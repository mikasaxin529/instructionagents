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94960" y="1051560"/>
            <a:ext cx="1371600" cy="54864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74920" y="1371600"/>
            <a:ext cx="146304" cy="146304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0" y="1371600"/>
            <a:ext cx="146304" cy="146304"/>
          </a:xfrm>
          <a:prstGeom prst="ellipse">
            <a:avLst/>
          </a:prstGeom>
          <a:solidFill>
            <a:srgbClr val="3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995160" y="1371600"/>
            <a:ext cx="146304" cy="146304"/>
          </a:xfrm>
          <a:prstGeom prst="ellipse">
            <a:avLst/>
          </a:prstGeom>
          <a:solidFill>
            <a:srgbClr val="3E7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956048" y="3931920"/>
            <a:ext cx="2286000" cy="109728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48840"/>
            <a:ext cx="9994392" cy="17373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6000" b="1">
                <a:solidFill>
                  <a:srgbClr val="3D2B1F"/>
                </a:solidFill>
                <a:latin typeface="微软雅黑"/>
              </a:rPr>
              <a:t>坐井观天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224528"/>
            <a:ext cx="9994392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2200" b="0">
                <a:solidFill>
                  <a:srgbClr val="9C8B78"/>
                </a:solidFill>
                <a:latin typeface="微软雅黑"/>
              </a:rPr>
              <a:t>部编版二年级上册　·　精读课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22876" y="5029200"/>
            <a:ext cx="1586484" cy="310896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2876" y="5029200"/>
            <a:ext cx="1586484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500" b="1">
                <a:solidFill>
                  <a:srgbClr val="3D2B1F"/>
                </a:solidFill>
                <a:latin typeface="微软雅黑"/>
              </a:rPr>
              <a:t>第 1 课时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547104"/>
            <a:ext cx="54864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B7A995"/>
                </a:solidFill>
                <a:latin typeface="微软雅黑"/>
              </a:rPr>
              <a:t>坐井观天 · 部编版二年级上册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547104"/>
            <a:ext cx="14630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B7A995"/>
                </a:solidFill>
                <a:latin typeface="微软雅黑"/>
              </a:rPr>
              <a:t>01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1024128"/>
            <a:ext cx="868680" cy="100584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22960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4000" b="1">
                <a:solidFill>
                  <a:srgbClr val="3D2B1F"/>
                </a:solidFill>
                <a:latin typeface="微软雅黑"/>
              </a:rPr>
              <a:t>本课时目录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80744"/>
            <a:ext cx="82296" cy="39116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820095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800" b="1">
                <a:solidFill>
                  <a:srgbClr val="3D2B1F"/>
                </a:solidFill>
                <a:latin typeface="微软雅黑"/>
              </a:rPr>
              <a:t>第 1 课时 目录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12848"/>
            <a:ext cx="10820095" cy="4023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50292" dist="32004" dir="5400000" rotWithShape="0">
              <a:srgbClr val="B7A995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432304"/>
            <a:ext cx="384048" cy="384048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432304"/>
            <a:ext cx="38404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800" b="1">
                <a:solidFill>
                  <a:srgbClr val="3D2B1F"/>
                </a:solidFill>
                <a:latin typeface="微软雅黑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2395728"/>
            <a:ext cx="9658807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200" b="0">
                <a:solidFill>
                  <a:srgbClr val="4A3B2E"/>
                </a:solidFill>
                <a:latin typeface="微软雅黑"/>
              </a:rPr>
              <a:t>情境导入</a:t>
            </a:r>
          </a:p>
        </p:txBody>
      </p:sp>
      <p:sp>
        <p:nvSpPr>
          <p:cNvPr id="11" name="Oval 10"/>
          <p:cNvSpPr/>
          <p:nvPr/>
        </p:nvSpPr>
        <p:spPr>
          <a:xfrm>
            <a:off x="1005840" y="2889504"/>
            <a:ext cx="384048" cy="384048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889504"/>
            <a:ext cx="38404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800" b="1">
                <a:solidFill>
                  <a:srgbClr val="3D2B1F"/>
                </a:solidFill>
                <a:latin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2852928"/>
            <a:ext cx="9658807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200" b="0">
                <a:solidFill>
                  <a:srgbClr val="4A3B2E"/>
                </a:solidFill>
                <a:latin typeface="微软雅黑"/>
              </a:rPr>
              <a:t>初读感知</a:t>
            </a:r>
          </a:p>
        </p:txBody>
      </p:sp>
      <p:sp>
        <p:nvSpPr>
          <p:cNvPr id="14" name="Oval 13"/>
          <p:cNvSpPr/>
          <p:nvPr/>
        </p:nvSpPr>
        <p:spPr>
          <a:xfrm>
            <a:off x="1005840" y="3346704"/>
            <a:ext cx="384048" cy="384048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346704"/>
            <a:ext cx="38404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800" b="1">
                <a:solidFill>
                  <a:srgbClr val="3D2B1F"/>
                </a:solidFill>
                <a:latin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3310128"/>
            <a:ext cx="9658807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200" b="0">
                <a:solidFill>
                  <a:srgbClr val="4A3B2E"/>
                </a:solidFill>
                <a:latin typeface="微软雅黑"/>
              </a:rPr>
              <a:t>会认字</a:t>
            </a:r>
          </a:p>
        </p:txBody>
      </p:sp>
      <p:sp>
        <p:nvSpPr>
          <p:cNvPr id="17" name="Oval 16"/>
          <p:cNvSpPr/>
          <p:nvPr/>
        </p:nvSpPr>
        <p:spPr>
          <a:xfrm>
            <a:off x="1005840" y="3803904"/>
            <a:ext cx="384048" cy="384048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803904"/>
            <a:ext cx="38404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800" b="1">
                <a:solidFill>
                  <a:srgbClr val="3D2B1F"/>
                </a:solidFill>
                <a:latin typeface="微软雅黑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3767328"/>
            <a:ext cx="9658807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200" b="0">
                <a:solidFill>
                  <a:srgbClr val="4A3B2E"/>
                </a:solidFill>
                <a:latin typeface="微软雅黑"/>
              </a:rPr>
              <a:t>会写字</a:t>
            </a:r>
          </a:p>
        </p:txBody>
      </p:sp>
      <p:sp>
        <p:nvSpPr>
          <p:cNvPr id="20" name="Oval 19"/>
          <p:cNvSpPr/>
          <p:nvPr/>
        </p:nvSpPr>
        <p:spPr>
          <a:xfrm>
            <a:off x="1005840" y="4261104"/>
            <a:ext cx="384048" cy="384048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261104"/>
            <a:ext cx="38404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800" b="1">
                <a:solidFill>
                  <a:srgbClr val="3D2B1F"/>
                </a:solidFill>
                <a:latin typeface="微软雅黑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4224528"/>
            <a:ext cx="9658807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200" b="0">
                <a:solidFill>
                  <a:srgbClr val="4A3B2E"/>
                </a:solidFill>
                <a:latin typeface="微软雅黑"/>
              </a:rPr>
              <a:t>词语理解</a:t>
            </a:r>
          </a:p>
        </p:txBody>
      </p:sp>
      <p:sp>
        <p:nvSpPr>
          <p:cNvPr id="23" name="Oval 22"/>
          <p:cNvSpPr/>
          <p:nvPr/>
        </p:nvSpPr>
        <p:spPr>
          <a:xfrm>
            <a:off x="1005840" y="4718304"/>
            <a:ext cx="384048" cy="384048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718304"/>
            <a:ext cx="38404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800" b="1">
                <a:solidFill>
                  <a:srgbClr val="3D2B1F"/>
                </a:solidFill>
                <a:latin typeface="微软雅黑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72768" y="4681728"/>
            <a:ext cx="9658807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200" b="0">
                <a:solidFill>
                  <a:srgbClr val="4A3B2E"/>
                </a:solidFill>
                <a:latin typeface="微软雅黑"/>
              </a:rPr>
              <a:t>再读梳理</a:t>
            </a:r>
          </a:p>
        </p:txBody>
      </p:sp>
      <p:sp>
        <p:nvSpPr>
          <p:cNvPr id="26" name="Oval 25"/>
          <p:cNvSpPr/>
          <p:nvPr/>
        </p:nvSpPr>
        <p:spPr>
          <a:xfrm>
            <a:off x="1005840" y="5175504"/>
            <a:ext cx="384048" cy="384048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5175504"/>
            <a:ext cx="38404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800" b="1">
                <a:solidFill>
                  <a:srgbClr val="3D2B1F"/>
                </a:solidFill>
                <a:latin typeface="微软雅黑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72768" y="5138928"/>
            <a:ext cx="9658807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200" b="0">
                <a:solidFill>
                  <a:srgbClr val="4A3B2E"/>
                </a:solidFill>
                <a:latin typeface="微软雅黑"/>
              </a:rPr>
              <a:t>课堂小结</a:t>
            </a:r>
          </a:p>
        </p:txBody>
      </p:sp>
      <p:sp>
        <p:nvSpPr>
          <p:cNvPr id="29" name="Oval 28"/>
          <p:cNvSpPr/>
          <p:nvPr/>
        </p:nvSpPr>
        <p:spPr>
          <a:xfrm>
            <a:off x="1005840" y="5632704"/>
            <a:ext cx="384048" cy="384048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5632704"/>
            <a:ext cx="38404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800" b="1">
                <a:solidFill>
                  <a:srgbClr val="3D2B1F"/>
                </a:solidFill>
                <a:latin typeface="微软雅黑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72768" y="5596128"/>
            <a:ext cx="9658807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200" b="0">
                <a:solidFill>
                  <a:srgbClr val="4A3B2E"/>
                </a:solidFill>
                <a:latin typeface="微软雅黑"/>
              </a:rPr>
              <a:t>基础作业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571379" y="566928"/>
            <a:ext cx="1117396" cy="310896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71379" y="566928"/>
            <a:ext cx="111739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3D2B1F"/>
                </a:solidFill>
                <a:latin typeface="微软雅黑"/>
              </a:rPr>
              <a:t>第1课时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65209" y="566928"/>
            <a:ext cx="796442" cy="310896"/>
          </a:xfrm>
          <a:prstGeom prst="roundRect">
            <a:avLst>
              <a:gd name="adj" fmla="val 50000"/>
            </a:avLst>
          </a:prstGeom>
          <a:noFill/>
          <a:ln w="1778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65209" y="566928"/>
            <a:ext cx="79644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ED7D31"/>
                </a:solidFill>
                <a:latin typeface="微软雅黑"/>
              </a:rPr>
              <a:t>目录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6547104"/>
            <a:ext cx="54864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B7A995"/>
                </a:solidFill>
                <a:latin typeface="微软雅黑"/>
              </a:rPr>
              <a:t>坐井观天 · 部编版二年级上册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0" y="6547104"/>
            <a:ext cx="14630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B7A995"/>
                </a:solidFill>
                <a:latin typeface="微软雅黑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1024128"/>
            <a:ext cx="868680" cy="100584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22960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4000" b="1">
                <a:solidFill>
                  <a:srgbClr val="3D2B1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80744"/>
            <a:ext cx="82296" cy="44704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820095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3200" b="1">
                <a:solidFill>
                  <a:srgbClr val="3D2B1F"/>
                </a:solidFill>
                <a:latin typeface="微软雅黑"/>
              </a:rPr>
              <a:t>学习目标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12848"/>
            <a:ext cx="10820095" cy="26334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50292" dist="32004" dir="5400000" rotWithShape="0">
              <a:srgbClr val="B7A995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487168"/>
            <a:ext cx="384048" cy="384048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487168"/>
            <a:ext cx="38404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800" b="1">
                <a:solidFill>
                  <a:srgbClr val="3D2B1F"/>
                </a:solidFill>
                <a:latin typeface="微软雅黑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2395728"/>
            <a:ext cx="9658807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200" b="0">
                <a:solidFill>
                  <a:srgbClr val="4A3B2E"/>
                </a:solidFill>
                <a:latin typeface="微软雅黑"/>
              </a:rPr>
              <a:t>认识9个生字，会写6个字</a:t>
            </a:r>
          </a:p>
        </p:txBody>
      </p:sp>
      <p:sp>
        <p:nvSpPr>
          <p:cNvPr id="11" name="Oval 10"/>
          <p:cNvSpPr/>
          <p:nvPr/>
        </p:nvSpPr>
        <p:spPr>
          <a:xfrm>
            <a:off x="1005840" y="3054096"/>
            <a:ext cx="384048" cy="384048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054096"/>
            <a:ext cx="38404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800" b="1">
                <a:solidFill>
                  <a:srgbClr val="3D2B1F"/>
                </a:solidFill>
                <a:latin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2962656"/>
            <a:ext cx="9658807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200" b="0">
                <a:solidFill>
                  <a:srgbClr val="4A3B2E"/>
                </a:solidFill>
                <a:latin typeface="微软雅黑"/>
              </a:rPr>
              <a:t>正确流利有感情地朗读课文</a:t>
            </a:r>
          </a:p>
        </p:txBody>
      </p:sp>
      <p:sp>
        <p:nvSpPr>
          <p:cNvPr id="14" name="Oval 13"/>
          <p:cNvSpPr/>
          <p:nvPr/>
        </p:nvSpPr>
        <p:spPr>
          <a:xfrm>
            <a:off x="1005840" y="3621024"/>
            <a:ext cx="384048" cy="384048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621024"/>
            <a:ext cx="38404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800" b="1">
                <a:solidFill>
                  <a:srgbClr val="3D2B1F"/>
                </a:solidFill>
                <a:latin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3529584"/>
            <a:ext cx="9658807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200" b="0">
                <a:solidFill>
                  <a:srgbClr val="4A3B2E"/>
                </a:solidFill>
                <a:latin typeface="微软雅黑"/>
              </a:rPr>
              <a:t>理解"坐井观天、无边无际"的意思</a:t>
            </a:r>
          </a:p>
        </p:txBody>
      </p:sp>
      <p:sp>
        <p:nvSpPr>
          <p:cNvPr id="17" name="Oval 16"/>
          <p:cNvSpPr/>
          <p:nvPr/>
        </p:nvSpPr>
        <p:spPr>
          <a:xfrm>
            <a:off x="1005840" y="4187952"/>
            <a:ext cx="384048" cy="384048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187952"/>
            <a:ext cx="38404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800" b="1">
                <a:solidFill>
                  <a:srgbClr val="3D2B1F"/>
                </a:solidFill>
                <a:latin typeface="微软雅黑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4096512"/>
            <a:ext cx="9658807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200" b="0">
                <a:solidFill>
                  <a:srgbClr val="4A3B2E"/>
                </a:solidFill>
                <a:latin typeface="微软雅黑"/>
              </a:rPr>
              <a:t>懂得故事蕴含的道理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71379" y="566928"/>
            <a:ext cx="1117396" cy="310896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71379" y="566928"/>
            <a:ext cx="111739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3D2B1F"/>
                </a:solidFill>
                <a:latin typeface="微软雅黑"/>
              </a:rPr>
              <a:t>第1课时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44255" y="566928"/>
            <a:ext cx="1117396" cy="310896"/>
          </a:xfrm>
          <a:prstGeom prst="roundRect">
            <a:avLst>
              <a:gd name="adj" fmla="val 50000"/>
            </a:avLst>
          </a:prstGeom>
          <a:noFill/>
          <a:ln w="1778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44255" y="566928"/>
            <a:ext cx="111739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ED7D31"/>
                </a:solidFill>
                <a:latin typeface="微软雅黑"/>
              </a:rPr>
              <a:t>学习目标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547104"/>
            <a:ext cx="54864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B7A995"/>
                </a:solidFill>
                <a:latin typeface="微软雅黑"/>
              </a:rPr>
              <a:t>坐井观天 · 部编版二年级上册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6547104"/>
            <a:ext cx="14630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B7A995"/>
                </a:solidFill>
                <a:latin typeface="微软雅黑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1024128"/>
            <a:ext cx="868680" cy="100584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22960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4000" b="1">
                <a:solidFill>
                  <a:srgbClr val="3D2B1F"/>
                </a:solidFill>
                <a:latin typeface="微软雅黑"/>
              </a:rPr>
              <a:t>情境导入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80744"/>
            <a:ext cx="82296" cy="44704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820095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3200" b="1">
                <a:solidFill>
                  <a:srgbClr val="3D2B1F"/>
                </a:solidFill>
                <a:latin typeface="微软雅黑"/>
              </a:rPr>
              <a:t>情境导入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12848"/>
            <a:ext cx="10820095" cy="98755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4A3B2E"/>
                </a:solidFill>
                <a:latin typeface="微软雅黑"/>
              </a:rPr>
              <a:t>一只</a:t>
            </a:r>
            <a:r>
              <a:rPr sz="2400" b="1">
                <a:solidFill>
                  <a:srgbClr val="3E7BB6"/>
                </a:solidFill>
                <a:latin typeface="微软雅黑"/>
              </a:rPr>
              <a:t>青蛙</a:t>
            </a:r>
            <a:r>
              <a:rPr sz="2400" b="0">
                <a:solidFill>
                  <a:srgbClr val="4A3B2E"/>
                </a:solidFill>
                <a:latin typeface="微软雅黑"/>
              </a:rPr>
              <a:t>坐在井里，一只小鸟飞来，落在井沿上。它们之间会发生什么故事呢？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429000"/>
            <a:ext cx="10820095" cy="1371600"/>
          </a:xfrm>
          <a:prstGeom prst="roundRect">
            <a:avLst>
              <a:gd name="adj" fmla="val 10000"/>
            </a:avLst>
          </a:prstGeom>
          <a:solidFill>
            <a:srgbClr val="F3F9F4"/>
          </a:solidFill>
          <a:ln w="17780">
            <a:solidFill>
              <a:srgbClr val="3E8E5A"/>
            </a:solidFill>
          </a:ln>
          <a:effectLst>
            <a:outerShdw blurRad="50292" dist="32004" dir="5400000" rotWithShape="0">
              <a:srgbClr val="B7A995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41832" y="3666744"/>
            <a:ext cx="457200" cy="457200"/>
          </a:xfrm>
          <a:prstGeom prst="ellipse">
            <a:avLst/>
          </a:prstGeom>
          <a:solidFill>
            <a:srgbClr val="3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3648456"/>
            <a:ext cx="457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800" b="1">
                <a:solidFill>
                  <a:srgbClr val="3D2B1F"/>
                </a:solidFill>
                <a:latin typeface="微软雅黑"/>
              </a:rPr>
              <a:t>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593592"/>
            <a:ext cx="9677095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3D2B1F"/>
                </a:solidFill>
                <a:latin typeface="微软雅黑"/>
              </a:rPr>
              <a:t>你看到过"井"吗？说说井是什么样子的。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159899" y="4398264"/>
            <a:ext cx="1117396" cy="310896"/>
          </a:xfrm>
          <a:prstGeom prst="roundRect">
            <a:avLst>
              <a:gd name="adj" fmla="val 50000"/>
            </a:avLst>
          </a:prstGeom>
          <a:solidFill>
            <a:srgbClr val="3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59899" y="4398264"/>
            <a:ext cx="111739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3D2B1F"/>
                </a:solidFill>
                <a:latin typeface="微软雅黑"/>
              </a:rPr>
              <a:t>全班交流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434840"/>
            <a:ext cx="9677095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9C8B78"/>
                </a:solidFill>
                <a:latin typeface="微软雅黑"/>
              </a:rPr>
              <a:t>💡 </a:t>
            </a:r>
            <a:r>
              <a:rPr sz="1400" b="0">
                <a:solidFill>
                  <a:srgbClr val="9C8B78"/>
                </a:solidFill>
                <a:latin typeface="微软雅黑"/>
              </a:rPr>
              <a:t>提示：联系生活，想想井口的形状和大小。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71379" y="566928"/>
            <a:ext cx="1117396" cy="310896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71379" y="566928"/>
            <a:ext cx="111739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3D2B1F"/>
                </a:solidFill>
                <a:latin typeface="微软雅黑"/>
              </a:rPr>
              <a:t>第1课时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44255" y="566928"/>
            <a:ext cx="1117396" cy="310896"/>
          </a:xfrm>
          <a:prstGeom prst="roundRect">
            <a:avLst>
              <a:gd name="adj" fmla="val 50000"/>
            </a:avLst>
          </a:prstGeom>
          <a:noFill/>
          <a:ln w="1778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44255" y="566928"/>
            <a:ext cx="111739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ED7D31"/>
                </a:solidFill>
                <a:latin typeface="微软雅黑"/>
              </a:rPr>
              <a:t>情境导入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547104"/>
            <a:ext cx="54864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B7A995"/>
                </a:solidFill>
                <a:latin typeface="微软雅黑"/>
              </a:rPr>
              <a:t>坐井观天 · 部编版二年级上册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6547104"/>
            <a:ext cx="14630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B7A995"/>
                </a:solidFill>
                <a:latin typeface="微软雅黑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1024128"/>
            <a:ext cx="868680" cy="100584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22960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4000" b="1">
                <a:solidFill>
                  <a:srgbClr val="3D2B1F"/>
                </a:solidFill>
                <a:latin typeface="微软雅黑"/>
              </a:rPr>
              <a:t>初读感知 · 注音课文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80744"/>
            <a:ext cx="82296" cy="44704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820095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3200" b="1">
                <a:solidFill>
                  <a:srgbClr val="3D2B1F"/>
                </a:solidFill>
                <a:latin typeface="微软雅黑"/>
              </a:rPr>
              <a:t>初读感知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12848"/>
            <a:ext cx="10820095" cy="603503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3E7BB6"/>
                </a:solidFill>
                <a:latin typeface="微软雅黑"/>
              </a:rPr>
              <a:t>朗读要求</a:t>
            </a:r>
            <a:r>
              <a:rPr sz="2400" b="0">
                <a:solidFill>
                  <a:srgbClr val="4A3B2E"/>
                </a:solidFill>
                <a:latin typeface="微软雅黑"/>
              </a:rPr>
              <a:t>：读准字音，读通句子，遇到难读的地方多读几遍。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147" y="3044951"/>
            <a:ext cx="7391400" cy="70485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10571379" y="566928"/>
            <a:ext cx="1117396" cy="310896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71379" y="566928"/>
            <a:ext cx="111739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3D2B1F"/>
                </a:solidFill>
                <a:latin typeface="微软雅黑"/>
              </a:rPr>
              <a:t>第1课时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44255" y="566928"/>
            <a:ext cx="1117396" cy="310896"/>
          </a:xfrm>
          <a:prstGeom prst="roundRect">
            <a:avLst>
              <a:gd name="adj" fmla="val 50000"/>
            </a:avLst>
          </a:prstGeom>
          <a:noFill/>
          <a:ln w="1778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44255" y="566928"/>
            <a:ext cx="111739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ED7D31"/>
                </a:solidFill>
                <a:latin typeface="微软雅黑"/>
              </a:rPr>
              <a:t>朗读感知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547104"/>
            <a:ext cx="54864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B7A995"/>
                </a:solidFill>
                <a:latin typeface="微软雅黑"/>
              </a:rPr>
              <a:t>坐井观天 · 部编版二年级上册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547104"/>
            <a:ext cx="14630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B7A995"/>
                </a:solidFill>
                <a:latin typeface="微软雅黑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1024128"/>
            <a:ext cx="868680" cy="100584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22960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4000" b="1">
                <a:solidFill>
                  <a:srgbClr val="3D2B1F"/>
                </a:solidFill>
                <a:latin typeface="微软雅黑"/>
              </a:rPr>
              <a:t>初读感知 · 课文续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80744"/>
            <a:ext cx="82296" cy="39116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820095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800" b="1">
                <a:solidFill>
                  <a:srgbClr val="3D2B1F"/>
                </a:solidFill>
                <a:latin typeface="微软雅黑"/>
              </a:rPr>
              <a:t>初读感知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212848"/>
            <a:ext cx="10820095" cy="45963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0571379" y="566928"/>
            <a:ext cx="1117396" cy="310896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71379" y="566928"/>
            <a:ext cx="111739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3D2B1F"/>
                </a:solidFill>
                <a:latin typeface="微软雅黑"/>
              </a:rPr>
              <a:t>第1课时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44255" y="566928"/>
            <a:ext cx="1117396" cy="310896"/>
          </a:xfrm>
          <a:prstGeom prst="roundRect">
            <a:avLst>
              <a:gd name="adj" fmla="val 50000"/>
            </a:avLst>
          </a:prstGeom>
          <a:noFill/>
          <a:ln w="1778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44255" y="566928"/>
            <a:ext cx="111739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ED7D31"/>
                </a:solidFill>
                <a:latin typeface="微软雅黑"/>
              </a:rPr>
              <a:t>朗读感知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547104"/>
            <a:ext cx="54864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B7A995"/>
                </a:solidFill>
                <a:latin typeface="微软雅黑"/>
              </a:rPr>
              <a:t>坐井观天 · 部编版二年级上册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547104"/>
            <a:ext cx="14630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B7A995"/>
                </a:solidFill>
                <a:latin typeface="微软雅黑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1024128"/>
            <a:ext cx="868680" cy="100584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22960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4000" b="1">
                <a:solidFill>
                  <a:srgbClr val="3D2B1F"/>
                </a:solidFill>
                <a:latin typeface="微软雅黑"/>
              </a:rPr>
              <a:t>会认字 · 生字朋友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80744"/>
            <a:ext cx="82296" cy="44704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820095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3200" b="1">
                <a:solidFill>
                  <a:srgbClr val="3D2B1F"/>
                </a:solidFill>
                <a:latin typeface="微软雅黑"/>
              </a:rPr>
              <a:t>我会认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12848"/>
            <a:ext cx="3423818" cy="187451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0E4CD"/>
            </a:solidFill>
          </a:ln>
          <a:effectLst>
            <a:outerShdw blurRad="50292" dist="32004" dir="5400000" rotWithShape="0">
              <a:srgbClr val="B7A995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41832" y="2359152"/>
            <a:ext cx="2911754" cy="82296"/>
          </a:xfrm>
          <a:prstGeom prst="roundRect">
            <a:avLst>
              <a:gd name="adj" fmla="val 50000"/>
            </a:avLst>
          </a:prstGeom>
          <a:solidFill>
            <a:srgbClr val="3E7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450592"/>
            <a:ext cx="3423818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2400" b="0">
                <a:solidFill>
                  <a:srgbClr val="E8A33C"/>
                </a:solidFill>
                <a:latin typeface="Consolas"/>
              </a:rPr>
              <a:t>yán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871216"/>
            <a:ext cx="3423818" cy="12700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8200" b="1">
                <a:solidFill>
                  <a:srgbClr val="3D2B1F"/>
                </a:solidFill>
                <a:latin typeface="微软雅黑"/>
              </a:rPr>
              <a:t>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3630167"/>
            <a:ext cx="3204362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500" b="1">
                <a:solidFill>
                  <a:srgbClr val="3E7BB6"/>
                </a:solidFill>
                <a:latin typeface="微软雅黑"/>
              </a:rPr>
              <a:t>井沿、沿着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3938" y="2212848"/>
            <a:ext cx="3423818" cy="187451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0E4CD"/>
            </a:solidFill>
          </a:ln>
          <a:effectLst>
            <a:outerShdw blurRad="50292" dist="32004" dir="5400000" rotWithShape="0">
              <a:srgbClr val="B7A995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39970" y="2359152"/>
            <a:ext cx="2911754" cy="82296"/>
          </a:xfrm>
          <a:prstGeom prst="roundRect">
            <a:avLst>
              <a:gd name="adj" fmla="val 50000"/>
            </a:avLst>
          </a:prstGeom>
          <a:solidFill>
            <a:srgbClr val="3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3938" y="2450592"/>
            <a:ext cx="3423818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2400" b="0">
                <a:solidFill>
                  <a:srgbClr val="E8A33C"/>
                </a:solidFill>
                <a:latin typeface="Consolas"/>
              </a:rPr>
              <a:t>dá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3938" y="2871216"/>
            <a:ext cx="3423818" cy="12700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8200" b="1">
                <a:solidFill>
                  <a:srgbClr val="3D2B1F"/>
                </a:solidFill>
                <a:latin typeface="微软雅黑"/>
              </a:rPr>
              <a:t>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3666" y="3630167"/>
            <a:ext cx="3204362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500" b="1">
                <a:solidFill>
                  <a:srgbClr val="3E8E5A"/>
                </a:solidFill>
                <a:latin typeface="微软雅黑"/>
              </a:rPr>
              <a:t>回答、答话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2076" y="2212848"/>
            <a:ext cx="3423818" cy="187451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0E4CD"/>
            </a:solidFill>
          </a:ln>
          <a:effectLst>
            <a:outerShdw blurRad="50292" dist="32004" dir="5400000" rotWithShape="0">
              <a:srgbClr val="B7A995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38108" y="2359152"/>
            <a:ext cx="2911754" cy="82296"/>
          </a:xfrm>
          <a:prstGeom prst="roundRect">
            <a:avLst>
              <a:gd name="adj" fmla="val 50000"/>
            </a:avLst>
          </a:prstGeom>
          <a:solidFill>
            <a:srgbClr val="E25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82076" y="2450592"/>
            <a:ext cx="3423818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2400" b="0">
                <a:solidFill>
                  <a:srgbClr val="5BA88A"/>
                </a:solidFill>
                <a:latin typeface="Consolas"/>
              </a:rPr>
              <a:t>kě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2076" y="2871216"/>
            <a:ext cx="3423818" cy="12700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8200" b="1">
                <a:solidFill>
                  <a:srgbClr val="3D2B1F"/>
                </a:solidFill>
                <a:latin typeface="微软雅黑"/>
              </a:rPr>
              <a:t>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1804" y="3630167"/>
            <a:ext cx="3204362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500" b="1">
                <a:solidFill>
                  <a:srgbClr val="E2574C"/>
                </a:solidFill>
                <a:latin typeface="微软雅黑"/>
              </a:rPr>
              <a:t>口渴、渴望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361687"/>
            <a:ext cx="3423818" cy="187451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0E4CD"/>
            </a:solidFill>
          </a:ln>
          <a:effectLst>
            <a:outerShdw blurRad="50292" dist="32004" dir="5400000" rotWithShape="0">
              <a:srgbClr val="B7A995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41832" y="4507991"/>
            <a:ext cx="2911754" cy="82296"/>
          </a:xfrm>
          <a:prstGeom prst="roundRect">
            <a:avLst>
              <a:gd name="adj" fmla="val 50000"/>
            </a:avLst>
          </a:prstGeom>
          <a:solidFill>
            <a:srgbClr val="8E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599431"/>
            <a:ext cx="3423818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2400" b="0">
                <a:solidFill>
                  <a:srgbClr val="D9534F"/>
                </a:solidFill>
                <a:latin typeface="Consolas"/>
              </a:rPr>
              <a:t>hē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20055"/>
            <a:ext cx="3423818" cy="12700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8200" b="1">
                <a:solidFill>
                  <a:srgbClr val="3D2B1F"/>
                </a:solidFill>
                <a:latin typeface="微软雅黑"/>
              </a:rPr>
              <a:t>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" y="5779006"/>
            <a:ext cx="3204362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500" b="1">
                <a:solidFill>
                  <a:srgbClr val="8E6BB5"/>
                </a:solidFill>
                <a:latin typeface="微软雅黑"/>
              </a:rPr>
              <a:t>喝水、喝酒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571379" y="566928"/>
            <a:ext cx="1117396" cy="310896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71379" y="566928"/>
            <a:ext cx="111739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3D2B1F"/>
                </a:solidFill>
                <a:latin typeface="微软雅黑"/>
              </a:rPr>
              <a:t>第1课时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44255" y="566928"/>
            <a:ext cx="1117396" cy="310896"/>
          </a:xfrm>
          <a:prstGeom prst="roundRect">
            <a:avLst>
              <a:gd name="adj" fmla="val 50000"/>
            </a:avLst>
          </a:prstGeom>
          <a:noFill/>
          <a:ln w="1778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44255" y="566928"/>
            <a:ext cx="111739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ED7D31"/>
                </a:solidFill>
                <a:latin typeface="微软雅黑"/>
              </a:rPr>
              <a:t>识字卡片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6547104"/>
            <a:ext cx="54864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B7A995"/>
                </a:solidFill>
                <a:latin typeface="微软雅黑"/>
              </a:rPr>
              <a:t>坐井观天 · 部编版二年级上册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6547104"/>
            <a:ext cx="14630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B7A995"/>
                </a:solidFill>
                <a:latin typeface="微软雅黑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1024128"/>
            <a:ext cx="868680" cy="100584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22960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4000" b="1">
                <a:solidFill>
                  <a:srgbClr val="3D2B1F"/>
                </a:solidFill>
                <a:latin typeface="微软雅黑"/>
              </a:rPr>
              <a:t>会认字 · 续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80744"/>
            <a:ext cx="82296" cy="39116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820095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800" b="1">
                <a:solidFill>
                  <a:srgbClr val="3D2B1F"/>
                </a:solidFill>
                <a:latin typeface="微软雅黑"/>
              </a:rPr>
              <a:t>我会认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12848"/>
            <a:ext cx="3423818" cy="187451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0E4CD"/>
            </a:solidFill>
          </a:ln>
          <a:effectLst>
            <a:outerShdw blurRad="50292" dist="32004" dir="5400000" rotWithShape="0">
              <a:srgbClr val="B7A995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41832" y="2359152"/>
            <a:ext cx="2911754" cy="82296"/>
          </a:xfrm>
          <a:prstGeom prst="roundRect">
            <a:avLst>
              <a:gd name="adj" fmla="val 50000"/>
            </a:avLst>
          </a:prstGeom>
          <a:solidFill>
            <a:srgbClr val="3E7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450592"/>
            <a:ext cx="3423818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2400" b="0">
                <a:solidFill>
                  <a:srgbClr val="5B8AB5"/>
                </a:solidFill>
                <a:latin typeface="Consolas"/>
              </a:rPr>
              <a:t>huà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871216"/>
            <a:ext cx="3423818" cy="12700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8200" b="1">
                <a:solidFill>
                  <a:srgbClr val="3D2B1F"/>
                </a:solidFill>
                <a:latin typeface="微软雅黑"/>
              </a:rPr>
              <a:t>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3630167"/>
            <a:ext cx="3204362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500" b="1">
                <a:solidFill>
                  <a:srgbClr val="3E7BB6"/>
                </a:solidFill>
                <a:latin typeface="微软雅黑"/>
              </a:rPr>
              <a:t>说话、对话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3938" y="2212848"/>
            <a:ext cx="3423818" cy="187451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0E4CD"/>
            </a:solidFill>
          </a:ln>
          <a:effectLst>
            <a:outerShdw blurRad="50292" dist="32004" dir="5400000" rotWithShape="0">
              <a:srgbClr val="B7A995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39970" y="2359152"/>
            <a:ext cx="2911754" cy="82296"/>
          </a:xfrm>
          <a:prstGeom prst="roundRect">
            <a:avLst>
              <a:gd name="adj" fmla="val 50000"/>
            </a:avLst>
          </a:prstGeom>
          <a:solidFill>
            <a:srgbClr val="3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3938" y="2450592"/>
            <a:ext cx="3423818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2400" b="0">
                <a:solidFill>
                  <a:srgbClr val="5B8AB5"/>
                </a:solidFill>
                <a:latin typeface="Consolas"/>
              </a:rPr>
              <a:t>nòng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3938" y="2871216"/>
            <a:ext cx="3423818" cy="12700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8200" b="1">
                <a:solidFill>
                  <a:srgbClr val="3D2B1F"/>
                </a:solidFill>
                <a:latin typeface="微软雅黑"/>
              </a:rPr>
              <a:t>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3666" y="3630167"/>
            <a:ext cx="3204362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500" b="1">
                <a:solidFill>
                  <a:srgbClr val="3E8E5A"/>
                </a:solidFill>
                <a:latin typeface="微软雅黑"/>
              </a:rPr>
              <a:t>弄清、摆弄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2076" y="2212848"/>
            <a:ext cx="3423818" cy="187451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0E4CD"/>
            </a:solidFill>
          </a:ln>
          <a:effectLst>
            <a:outerShdw blurRad="50292" dist="32004" dir="5400000" rotWithShape="0">
              <a:srgbClr val="B7A995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38108" y="2359152"/>
            <a:ext cx="2911754" cy="82296"/>
          </a:xfrm>
          <a:prstGeom prst="roundRect">
            <a:avLst>
              <a:gd name="adj" fmla="val 50000"/>
            </a:avLst>
          </a:prstGeom>
          <a:solidFill>
            <a:srgbClr val="E25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82076" y="2450592"/>
            <a:ext cx="3423818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2400" b="0">
                <a:solidFill>
                  <a:srgbClr val="5B8AB5"/>
                </a:solidFill>
                <a:latin typeface="Consolas"/>
              </a:rPr>
              <a:t>cuò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2076" y="2871216"/>
            <a:ext cx="3423818" cy="12700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8200" b="1">
                <a:solidFill>
                  <a:srgbClr val="3D2B1F"/>
                </a:solidFill>
                <a:latin typeface="微软雅黑"/>
              </a:rPr>
              <a:t>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1804" y="3630167"/>
            <a:ext cx="3204362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500" b="1">
                <a:solidFill>
                  <a:srgbClr val="E2574C"/>
                </a:solidFill>
                <a:latin typeface="微软雅黑"/>
              </a:rPr>
              <a:t>错误、弄错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361687"/>
            <a:ext cx="3423818" cy="187451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0E4CD"/>
            </a:solidFill>
          </a:ln>
          <a:effectLst>
            <a:outerShdw blurRad="50292" dist="32004" dir="5400000" rotWithShape="0">
              <a:srgbClr val="B7A995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41832" y="4507991"/>
            <a:ext cx="2911754" cy="82296"/>
          </a:xfrm>
          <a:prstGeom prst="roundRect">
            <a:avLst>
              <a:gd name="adj" fmla="val 50000"/>
            </a:avLst>
          </a:prstGeom>
          <a:solidFill>
            <a:srgbClr val="8E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599431"/>
            <a:ext cx="3423818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2400" b="0">
                <a:solidFill>
                  <a:srgbClr val="5B8AB5"/>
                </a:solidFill>
                <a:latin typeface="Consolas"/>
              </a:rPr>
              <a:t>jì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20055"/>
            <a:ext cx="3423818" cy="12700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8200" b="1">
                <a:solidFill>
                  <a:srgbClr val="3D2B1F"/>
                </a:solidFill>
                <a:latin typeface="微软雅黑"/>
              </a:rPr>
              <a:t>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" y="5779006"/>
            <a:ext cx="3204362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500" b="1">
                <a:solidFill>
                  <a:srgbClr val="8E6BB5"/>
                </a:solidFill>
                <a:latin typeface="微软雅黑"/>
              </a:rPr>
              <a:t>无边无际、天际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571379" y="566928"/>
            <a:ext cx="1117396" cy="310896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71379" y="566928"/>
            <a:ext cx="111739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3D2B1F"/>
                </a:solidFill>
                <a:latin typeface="微软雅黑"/>
              </a:rPr>
              <a:t>第1课时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44255" y="566928"/>
            <a:ext cx="1117396" cy="310896"/>
          </a:xfrm>
          <a:prstGeom prst="roundRect">
            <a:avLst>
              <a:gd name="adj" fmla="val 50000"/>
            </a:avLst>
          </a:prstGeom>
          <a:noFill/>
          <a:ln w="1778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44255" y="566928"/>
            <a:ext cx="111739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ED7D31"/>
                </a:solidFill>
                <a:latin typeface="微软雅黑"/>
              </a:rPr>
              <a:t>识字卡片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6547104"/>
            <a:ext cx="54864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B7A995"/>
                </a:solidFill>
                <a:latin typeface="微软雅黑"/>
              </a:rPr>
              <a:t>坐井观天 · 部编版二年级上册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6547104"/>
            <a:ext cx="14630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B7A995"/>
                </a:solidFill>
                <a:latin typeface="微软雅黑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1024128"/>
            <a:ext cx="868680" cy="100584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22960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4000" b="1">
                <a:solidFill>
                  <a:srgbClr val="3D2B1F"/>
                </a:solidFill>
                <a:latin typeface="微软雅黑"/>
              </a:rPr>
              <a:t>会写字 · 田字格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80744"/>
            <a:ext cx="82296" cy="44704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820095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3200" b="1">
                <a:solidFill>
                  <a:srgbClr val="3D2B1F"/>
                </a:solidFill>
                <a:latin typeface="微软雅黑"/>
              </a:rPr>
              <a:t>我会写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12848"/>
            <a:ext cx="5272887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0E4CD"/>
            </a:solidFill>
          </a:ln>
          <a:effectLst>
            <a:outerShdw blurRad="50292" dist="32004" dir="5400000" rotWithShape="0">
              <a:srgbClr val="B7A995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2523744"/>
            <a:ext cx="1481328" cy="14813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24328" y="2414016"/>
            <a:ext cx="3169767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000" b="1">
                <a:solidFill>
                  <a:srgbClr val="5BA88A"/>
                </a:solidFill>
                <a:latin typeface="微软雅黑"/>
              </a:rPr>
              <a:t>jǐng　</a:t>
            </a:r>
            <a:r>
              <a:rPr sz="2600" b="1">
                <a:solidFill>
                  <a:srgbClr val="3D2B1F"/>
                </a:solidFill>
                <a:latin typeface="微软雅黑"/>
              </a:rPr>
              <a:t>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24328" y="3145536"/>
            <a:ext cx="3169767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E2574C"/>
                </a:solidFill>
                <a:latin typeface="微软雅黑"/>
              </a:rPr>
              <a:t>易错  </a:t>
            </a:r>
            <a:r>
              <a:rPr sz="1400" b="0">
                <a:solidFill>
                  <a:srgbClr val="4A3B2E"/>
                </a:solidFill>
                <a:latin typeface="微软雅黑"/>
              </a:rPr>
              <a:t>横画间距要匀称，竖画在横画正中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24328" y="3712464"/>
            <a:ext cx="3169767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3E8E5A"/>
                </a:solidFill>
                <a:latin typeface="微软雅黑"/>
              </a:rPr>
              <a:t>运笔  </a:t>
            </a:r>
            <a:r>
              <a:rPr sz="1400" b="0">
                <a:solidFill>
                  <a:srgbClr val="4A3B2E"/>
                </a:solidFill>
                <a:latin typeface="微软雅黑"/>
              </a:rPr>
              <a:t>先写两横，再写撇竖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212848"/>
            <a:ext cx="5272887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0E4CD"/>
            </a:solidFill>
          </a:ln>
          <a:effectLst>
            <a:outerShdw blurRad="50292" dist="32004" dir="5400000" rotWithShape="0">
              <a:srgbClr val="B7A995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175" y="2523744"/>
            <a:ext cx="1481328" cy="14813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171535" y="2414016"/>
            <a:ext cx="3169767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000" b="1">
                <a:solidFill>
                  <a:srgbClr val="D9534F"/>
                </a:solidFill>
                <a:latin typeface="微软雅黑"/>
              </a:rPr>
              <a:t>guān　</a:t>
            </a:r>
            <a:r>
              <a:rPr sz="2600" b="1">
                <a:solidFill>
                  <a:srgbClr val="3D2B1F"/>
                </a:solidFill>
                <a:latin typeface="微软雅黑"/>
              </a:rPr>
              <a:t>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1535" y="3145536"/>
            <a:ext cx="3169767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E2574C"/>
                </a:solidFill>
                <a:latin typeface="微软雅黑"/>
              </a:rPr>
              <a:t>易错  </a:t>
            </a:r>
            <a:r>
              <a:rPr sz="1400" b="0">
                <a:solidFill>
                  <a:srgbClr val="4A3B2E"/>
                </a:solidFill>
                <a:latin typeface="微软雅黑"/>
              </a:rPr>
              <a:t>右边"见"的竖弯钩要舒展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71535" y="3712464"/>
            <a:ext cx="3169767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3E8E5A"/>
                </a:solidFill>
                <a:latin typeface="微软雅黑"/>
              </a:rPr>
              <a:t>运笔  </a:t>
            </a:r>
            <a:r>
              <a:rPr sz="1400" b="0">
                <a:solidFill>
                  <a:srgbClr val="4A3B2E"/>
                </a:solidFill>
                <a:latin typeface="微软雅黑"/>
              </a:rPr>
              <a:t>左窄右宽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1379" y="566928"/>
            <a:ext cx="1117396" cy="310896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71379" y="566928"/>
            <a:ext cx="111739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3D2B1F"/>
                </a:solidFill>
                <a:latin typeface="微软雅黑"/>
              </a:rPr>
              <a:t>第1课时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44255" y="566928"/>
            <a:ext cx="1117396" cy="310896"/>
          </a:xfrm>
          <a:prstGeom prst="roundRect">
            <a:avLst>
              <a:gd name="adj" fmla="val 50000"/>
            </a:avLst>
          </a:prstGeom>
          <a:noFill/>
          <a:ln w="1778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44255" y="566928"/>
            <a:ext cx="111739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ED7D31"/>
                </a:solidFill>
                <a:latin typeface="微软雅黑"/>
              </a:rPr>
              <a:t>写法总结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547104"/>
            <a:ext cx="54864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B7A995"/>
                </a:solidFill>
                <a:latin typeface="微软雅黑"/>
              </a:rPr>
              <a:t>坐井观天 · 部编版二年级上册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6547104"/>
            <a:ext cx="14630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B7A995"/>
                </a:solidFill>
                <a:latin typeface="微软雅黑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1024128"/>
            <a:ext cx="868680" cy="100584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22960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4000" b="1">
                <a:solidFill>
                  <a:srgbClr val="3D2B1F"/>
                </a:solidFill>
                <a:latin typeface="微软雅黑"/>
              </a:rPr>
              <a:t>会写字 · 续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80744"/>
            <a:ext cx="82296" cy="39116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820095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800" b="1">
                <a:solidFill>
                  <a:srgbClr val="3D2B1F"/>
                </a:solidFill>
                <a:latin typeface="微软雅黑"/>
              </a:rPr>
              <a:t>我会写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12848"/>
            <a:ext cx="5272887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0E4CD"/>
            </a:solidFill>
          </a:ln>
          <a:effectLst>
            <a:outerShdw blurRad="50292" dist="32004" dir="5400000" rotWithShape="0">
              <a:srgbClr val="B7A995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2523744"/>
            <a:ext cx="1481328" cy="14813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24328" y="2414016"/>
            <a:ext cx="3169767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000" b="1">
                <a:solidFill>
                  <a:srgbClr val="E8A33C"/>
                </a:solidFill>
                <a:latin typeface="微软雅黑"/>
              </a:rPr>
              <a:t>yán　</a:t>
            </a:r>
            <a:r>
              <a:rPr sz="2600" b="1">
                <a:solidFill>
                  <a:srgbClr val="3D2B1F"/>
                </a:solidFill>
                <a:latin typeface="微软雅黑"/>
              </a:rPr>
              <a:t>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24328" y="3145536"/>
            <a:ext cx="3169767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E2574C"/>
                </a:solidFill>
                <a:latin typeface="微软雅黑"/>
              </a:rPr>
              <a:t>易错  </a:t>
            </a:r>
            <a:r>
              <a:rPr sz="1400" b="0">
                <a:solidFill>
                  <a:srgbClr val="4A3B2E"/>
                </a:solidFill>
                <a:latin typeface="微软雅黑"/>
              </a:rPr>
              <a:t>右上"几"不要写成"儿"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24328" y="3712464"/>
            <a:ext cx="3169767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3E8E5A"/>
                </a:solidFill>
                <a:latin typeface="微软雅黑"/>
              </a:rPr>
              <a:t>运笔  </a:t>
            </a:r>
            <a:r>
              <a:rPr sz="1400" b="0">
                <a:solidFill>
                  <a:srgbClr val="4A3B2E"/>
                </a:solidFill>
                <a:latin typeface="微软雅黑"/>
              </a:rPr>
              <a:t>左窄右宽，右上横折弯钩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212848"/>
            <a:ext cx="5272887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0E4CD"/>
            </a:solidFill>
          </a:ln>
          <a:effectLst>
            <a:outerShdw blurRad="50292" dist="32004" dir="5400000" rotWithShape="0">
              <a:srgbClr val="B7A995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175" y="2523744"/>
            <a:ext cx="1481328" cy="14813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171535" y="2414016"/>
            <a:ext cx="3169767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000" b="1">
                <a:solidFill>
                  <a:srgbClr val="E8A33C"/>
                </a:solidFill>
                <a:latin typeface="微软雅黑"/>
              </a:rPr>
              <a:t>dá　</a:t>
            </a:r>
            <a:r>
              <a:rPr sz="2600" b="1">
                <a:solidFill>
                  <a:srgbClr val="3D2B1F"/>
                </a:solidFill>
                <a:latin typeface="微软雅黑"/>
              </a:rPr>
              <a:t>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1535" y="3145536"/>
            <a:ext cx="3169767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E2574C"/>
                </a:solidFill>
                <a:latin typeface="微软雅黑"/>
              </a:rPr>
              <a:t>易错  </a:t>
            </a:r>
            <a:r>
              <a:rPr sz="1400" b="0">
                <a:solidFill>
                  <a:srgbClr val="4A3B2E"/>
                </a:solidFill>
                <a:latin typeface="微软雅黑"/>
              </a:rPr>
              <a:t>竹字头要写紧凑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71535" y="3712464"/>
            <a:ext cx="3169767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3E8E5A"/>
                </a:solidFill>
                <a:latin typeface="微软雅黑"/>
              </a:rPr>
              <a:t>运笔  </a:t>
            </a:r>
            <a:r>
              <a:rPr sz="1400" b="0">
                <a:solidFill>
                  <a:srgbClr val="4A3B2E"/>
                </a:solidFill>
                <a:latin typeface="微软雅黑"/>
              </a:rPr>
              <a:t>上下结构，上宽下窄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1379" y="566928"/>
            <a:ext cx="1117396" cy="310896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71379" y="566928"/>
            <a:ext cx="111739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3D2B1F"/>
                </a:solidFill>
                <a:latin typeface="微软雅黑"/>
              </a:rPr>
              <a:t>第1课时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44255" y="566928"/>
            <a:ext cx="1117396" cy="310896"/>
          </a:xfrm>
          <a:prstGeom prst="roundRect">
            <a:avLst>
              <a:gd name="adj" fmla="val 50000"/>
            </a:avLst>
          </a:prstGeom>
          <a:noFill/>
          <a:ln w="1778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44255" y="566928"/>
            <a:ext cx="111739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ED7D31"/>
                </a:solidFill>
                <a:latin typeface="微软雅黑"/>
              </a:rPr>
              <a:t>写法总结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547104"/>
            <a:ext cx="54864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B7A995"/>
                </a:solidFill>
                <a:latin typeface="微软雅黑"/>
              </a:rPr>
              <a:t>坐井观天 · 部编版二年级上册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6547104"/>
            <a:ext cx="14630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B7A995"/>
                </a:solidFill>
                <a:latin typeface="微软雅黑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1024128"/>
            <a:ext cx="868680" cy="100584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22960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4000" b="1">
                <a:solidFill>
                  <a:srgbClr val="3D2B1F"/>
                </a:solidFill>
                <a:latin typeface="微软雅黑"/>
              </a:rPr>
              <a:t>词语理解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80744"/>
            <a:ext cx="82296" cy="44704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820095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3200" b="1">
                <a:solidFill>
                  <a:srgbClr val="3D2B1F"/>
                </a:solidFill>
                <a:latin typeface="微软雅黑"/>
              </a:rPr>
              <a:t>词语理解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12848"/>
            <a:ext cx="10820095" cy="29626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50292" dist="32004" dir="5400000" rotWithShape="0">
              <a:srgbClr val="B7A995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67712"/>
            <a:ext cx="3606698" cy="47548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267712"/>
            <a:ext cx="3606698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2300" b="1">
                <a:solidFill>
                  <a:srgbClr val="3D2B1F"/>
                </a:solidFill>
                <a:latin typeface="微软雅黑"/>
              </a:rPr>
              <a:t>词语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2267712"/>
            <a:ext cx="3606698" cy="47548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2498" y="2267712"/>
            <a:ext cx="3606698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2300" b="1">
                <a:solidFill>
                  <a:srgbClr val="3D2B1F"/>
                </a:solidFill>
                <a:latin typeface="微软雅黑"/>
              </a:rPr>
              <a:t>读音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99196" y="2267712"/>
            <a:ext cx="3606698" cy="47548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99196" y="2267712"/>
            <a:ext cx="3606698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2300" b="1">
                <a:solidFill>
                  <a:srgbClr val="3D2B1F"/>
                </a:solidFill>
                <a:latin typeface="微软雅黑"/>
              </a:rPr>
              <a:t>意思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743200"/>
            <a:ext cx="360669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AD9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743200"/>
            <a:ext cx="3606698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2200" b="0">
                <a:solidFill>
                  <a:srgbClr val="4A3B2E"/>
                </a:solidFill>
                <a:latin typeface="微软雅黑"/>
              </a:rPr>
              <a:t>坐井观天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2498" y="2743200"/>
            <a:ext cx="360669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AD9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2498" y="2743200"/>
            <a:ext cx="3606698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2200" b="0">
                <a:solidFill>
                  <a:srgbClr val="4A3B2E"/>
                </a:solidFill>
                <a:latin typeface="微软雅黑"/>
              </a:rPr>
              <a:t>zuò jǐng guān tiān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99196" y="2743200"/>
            <a:ext cx="360669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AD9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99196" y="2743200"/>
            <a:ext cx="3606698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2200" b="0">
                <a:solidFill>
                  <a:srgbClr val="4A3B2E"/>
                </a:solidFill>
                <a:latin typeface="微软雅黑"/>
              </a:rPr>
              <a:t>坐在井底看天，比喻目光短浅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3218688"/>
            <a:ext cx="3606698" cy="475488"/>
          </a:xfrm>
          <a:prstGeom prst="rect">
            <a:avLst/>
          </a:prstGeom>
          <a:solidFill>
            <a:srgbClr val="FBF3E6"/>
          </a:solidFill>
          <a:ln w="9525">
            <a:solidFill>
              <a:srgbClr val="EAD9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218688"/>
            <a:ext cx="3606698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2200" b="0">
                <a:solidFill>
                  <a:srgbClr val="4A3B2E"/>
                </a:solidFill>
                <a:latin typeface="微软雅黑"/>
              </a:rPr>
              <a:t>无边无际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2498" y="3218688"/>
            <a:ext cx="3606698" cy="475488"/>
          </a:xfrm>
          <a:prstGeom prst="rect">
            <a:avLst/>
          </a:prstGeom>
          <a:solidFill>
            <a:srgbClr val="FBF3E6"/>
          </a:solidFill>
          <a:ln w="9525">
            <a:solidFill>
              <a:srgbClr val="EAD9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2498" y="3218688"/>
            <a:ext cx="3606698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2200" b="0">
                <a:solidFill>
                  <a:srgbClr val="4A3B2E"/>
                </a:solidFill>
                <a:latin typeface="微软雅黑"/>
              </a:rPr>
              <a:t>wú biān wú jì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99196" y="3218688"/>
            <a:ext cx="3606698" cy="475488"/>
          </a:xfrm>
          <a:prstGeom prst="rect">
            <a:avLst/>
          </a:prstGeom>
          <a:solidFill>
            <a:srgbClr val="FBF3E6"/>
          </a:solidFill>
          <a:ln w="9525">
            <a:solidFill>
              <a:srgbClr val="EAD9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99196" y="3218688"/>
            <a:ext cx="3606698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2200" b="0">
                <a:solidFill>
                  <a:srgbClr val="4A3B2E"/>
                </a:solidFill>
                <a:latin typeface="微软雅黑"/>
              </a:rPr>
              <a:t>没有边际，形容范围极为广阔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3694176"/>
            <a:ext cx="360669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AD9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3694176"/>
            <a:ext cx="3606698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2200" b="0">
                <a:solidFill>
                  <a:srgbClr val="4A3B2E"/>
                </a:solidFill>
                <a:latin typeface="微软雅黑"/>
              </a:rPr>
              <a:t>井沿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2498" y="3694176"/>
            <a:ext cx="360669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AD9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92498" y="3694176"/>
            <a:ext cx="3606698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2200" b="0">
                <a:solidFill>
                  <a:srgbClr val="4A3B2E"/>
                </a:solidFill>
                <a:latin typeface="微软雅黑"/>
              </a:rPr>
              <a:t>jǐng yán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99196" y="3694176"/>
            <a:ext cx="360669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AD9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9196" y="3694176"/>
            <a:ext cx="3606698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2200" b="0">
                <a:solidFill>
                  <a:srgbClr val="4A3B2E"/>
                </a:solidFill>
                <a:latin typeface="微软雅黑"/>
              </a:rPr>
              <a:t>井的边沿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571379" y="566928"/>
            <a:ext cx="1117396" cy="310896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71379" y="566928"/>
            <a:ext cx="111739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3D2B1F"/>
                </a:solidFill>
                <a:latin typeface="微软雅黑"/>
              </a:rPr>
              <a:t>第1课时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344255" y="566928"/>
            <a:ext cx="1117396" cy="310896"/>
          </a:xfrm>
          <a:prstGeom prst="roundRect">
            <a:avLst>
              <a:gd name="adj" fmla="val 50000"/>
            </a:avLst>
          </a:prstGeom>
          <a:noFill/>
          <a:ln w="1778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44255" y="566928"/>
            <a:ext cx="111739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ED7D31"/>
                </a:solidFill>
                <a:latin typeface="微软雅黑"/>
              </a:rPr>
              <a:t>词语天地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6547104"/>
            <a:ext cx="54864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B7A995"/>
                </a:solidFill>
                <a:latin typeface="微软雅黑"/>
              </a:rPr>
              <a:t>坐井观天 · 部编版二年级上册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0" y="6547104"/>
            <a:ext cx="14630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B7A995"/>
                </a:solidFill>
                <a:latin typeface="微软雅黑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1024128"/>
            <a:ext cx="868680" cy="100584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22960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4000" b="1">
                <a:solidFill>
                  <a:srgbClr val="3D2B1F"/>
                </a:solidFill>
                <a:latin typeface="微软雅黑"/>
              </a:rPr>
              <a:t>再读梳理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80744"/>
            <a:ext cx="82296" cy="44704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820095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3200" b="1">
                <a:solidFill>
                  <a:srgbClr val="3D2B1F"/>
                </a:solidFill>
                <a:latin typeface="微软雅黑"/>
              </a:rPr>
              <a:t>再读梳理 · 课文主要内容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12848"/>
            <a:ext cx="10820095" cy="98755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4A3B2E"/>
                </a:solidFill>
                <a:latin typeface="微软雅黑"/>
              </a:rPr>
              <a:t>青蛙坐在井里，小鸟飞来落在井沿上。它们为天有多大争论起来</a:t>
            </a:r>
            <a:r>
              <a:rPr sz="2400" b="1">
                <a:solidFill>
                  <a:srgbClr val="3E7BB6"/>
                </a:solidFill>
                <a:latin typeface="微软雅黑"/>
              </a:rPr>
              <a:t>。青蛙认</a:t>
            </a:r>
            <a:r>
              <a:rPr sz="2400" b="0">
                <a:solidFill>
                  <a:srgbClr val="4A3B2E"/>
                </a:solidFill>
                <a:latin typeface="微软雅黑"/>
              </a:rPr>
              <a:t>为天只有井口那么大，小鸟却说天无边无际。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429000"/>
            <a:ext cx="10820095" cy="1371600"/>
          </a:xfrm>
          <a:prstGeom prst="roundRect">
            <a:avLst>
              <a:gd name="adj" fmla="val 10000"/>
            </a:avLst>
          </a:prstGeom>
          <a:solidFill>
            <a:srgbClr val="F3F9F4"/>
          </a:solidFill>
          <a:ln w="17780">
            <a:solidFill>
              <a:srgbClr val="3E8E5A"/>
            </a:solidFill>
          </a:ln>
          <a:effectLst>
            <a:outerShdw blurRad="50292" dist="32004" dir="5400000" rotWithShape="0">
              <a:srgbClr val="B7A995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41832" y="3666744"/>
            <a:ext cx="457200" cy="457200"/>
          </a:xfrm>
          <a:prstGeom prst="ellipse">
            <a:avLst/>
          </a:prstGeom>
          <a:solidFill>
            <a:srgbClr val="3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3648456"/>
            <a:ext cx="457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800" b="1">
                <a:solidFill>
                  <a:srgbClr val="3D2B1F"/>
                </a:solidFill>
                <a:latin typeface="微软雅黑"/>
              </a:rPr>
              <a:t>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593592"/>
            <a:ext cx="9677095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3D2B1F"/>
                </a:solidFill>
                <a:latin typeface="微软雅黑"/>
              </a:rPr>
              <a:t>青蛙和小鸟为什么会有不同的看法？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159899" y="4398264"/>
            <a:ext cx="1117396" cy="310896"/>
          </a:xfrm>
          <a:prstGeom prst="roundRect">
            <a:avLst>
              <a:gd name="adj" fmla="val 50000"/>
            </a:avLst>
          </a:prstGeom>
          <a:solidFill>
            <a:srgbClr val="3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59899" y="4398264"/>
            <a:ext cx="111739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3D2B1F"/>
                </a:solidFill>
                <a:latin typeface="微软雅黑"/>
              </a:rPr>
              <a:t>同桌互说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434840"/>
            <a:ext cx="9677095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9C8B78"/>
                </a:solidFill>
                <a:latin typeface="微软雅黑"/>
              </a:rPr>
              <a:t>💡 </a:t>
            </a:r>
            <a:r>
              <a:rPr sz="1400" b="0">
                <a:solidFill>
                  <a:srgbClr val="9C8B78"/>
                </a:solidFill>
                <a:latin typeface="微软雅黑"/>
              </a:rPr>
              <a:t>提示：想想它们各自所处的位置。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71379" y="566928"/>
            <a:ext cx="1117396" cy="310896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71379" y="566928"/>
            <a:ext cx="111739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3D2B1F"/>
                </a:solidFill>
                <a:latin typeface="微软雅黑"/>
              </a:rPr>
              <a:t>第1课时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547104"/>
            <a:ext cx="54864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B7A995"/>
                </a:solidFill>
                <a:latin typeface="微软雅黑"/>
              </a:rPr>
              <a:t>坐井观天 · 部编版二年级上册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6547104"/>
            <a:ext cx="14630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B7A995"/>
                </a:solidFill>
                <a:latin typeface="微软雅黑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1024128"/>
            <a:ext cx="868680" cy="100584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22960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4000" b="1">
                <a:solidFill>
                  <a:srgbClr val="3D2B1F"/>
                </a:solidFill>
                <a:latin typeface="微软雅黑"/>
              </a:rPr>
              <a:t>课堂小结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80744"/>
            <a:ext cx="82296" cy="44704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820095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3200" b="1">
                <a:solidFill>
                  <a:srgbClr val="3D2B1F"/>
                </a:solidFill>
                <a:latin typeface="微软雅黑"/>
              </a:rPr>
              <a:t>课堂小结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12848"/>
            <a:ext cx="10820095" cy="98755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4A3B2E"/>
                </a:solidFill>
                <a:latin typeface="微软雅黑"/>
              </a:rPr>
              <a:t>这节课我们初读了课文，认识了生字新词，知道了青蛙和小鸟为天的争论。下节课我们继续探究，看看谁说得对。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71379" y="566928"/>
            <a:ext cx="1117396" cy="310896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71379" y="566928"/>
            <a:ext cx="111739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3D2B1F"/>
                </a:solidFill>
                <a:latin typeface="微软雅黑"/>
              </a:rPr>
              <a:t>第1课时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44255" y="566928"/>
            <a:ext cx="1117396" cy="310896"/>
          </a:xfrm>
          <a:prstGeom prst="roundRect">
            <a:avLst>
              <a:gd name="adj" fmla="val 50000"/>
            </a:avLst>
          </a:prstGeom>
          <a:noFill/>
          <a:ln w="1778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44255" y="566928"/>
            <a:ext cx="111739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ED7D31"/>
                </a:solidFill>
                <a:latin typeface="微软雅黑"/>
              </a:rPr>
              <a:t>课堂小结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547104"/>
            <a:ext cx="54864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B7A995"/>
                </a:solidFill>
                <a:latin typeface="微软雅黑"/>
              </a:rPr>
              <a:t>坐井观天 · 部编版二年级上册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547104"/>
            <a:ext cx="14630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B7A995"/>
                </a:solidFill>
                <a:latin typeface="微软雅黑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1024128"/>
            <a:ext cx="868680" cy="100584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22960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4000" b="1">
                <a:solidFill>
                  <a:srgbClr val="3D2B1F"/>
                </a:solidFill>
                <a:latin typeface="微软雅黑"/>
              </a:rPr>
              <a:t>基础作业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80744"/>
            <a:ext cx="82296" cy="44704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820095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3200" b="1">
                <a:solidFill>
                  <a:srgbClr val="3D2B1F"/>
                </a:solidFill>
                <a:latin typeface="微软雅黑"/>
              </a:rPr>
              <a:t>作业布置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12848"/>
            <a:ext cx="10820095" cy="2066543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50292" dist="32004" dir="5400000" rotWithShape="0">
              <a:srgbClr val="B7A995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487168"/>
            <a:ext cx="384048" cy="384048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487168"/>
            <a:ext cx="38404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800" b="1">
                <a:solidFill>
                  <a:srgbClr val="3D2B1F"/>
                </a:solidFill>
                <a:latin typeface="微软雅黑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2395728"/>
            <a:ext cx="9658807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200" b="0">
                <a:solidFill>
                  <a:srgbClr val="4A3B2E"/>
                </a:solidFill>
                <a:latin typeface="微软雅黑"/>
              </a:rPr>
              <a:t>抄写本课6个会写字，各3遍</a:t>
            </a:r>
          </a:p>
        </p:txBody>
      </p:sp>
      <p:sp>
        <p:nvSpPr>
          <p:cNvPr id="11" name="Oval 10"/>
          <p:cNvSpPr/>
          <p:nvPr/>
        </p:nvSpPr>
        <p:spPr>
          <a:xfrm>
            <a:off x="1005840" y="3054096"/>
            <a:ext cx="384048" cy="384048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054096"/>
            <a:ext cx="38404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800" b="1">
                <a:solidFill>
                  <a:srgbClr val="3D2B1F"/>
                </a:solidFill>
                <a:latin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2962656"/>
            <a:ext cx="9658807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200" b="0">
                <a:solidFill>
                  <a:srgbClr val="4A3B2E"/>
                </a:solidFill>
                <a:latin typeface="微软雅黑"/>
              </a:rPr>
              <a:t>正确流利地朗读课文3遍</a:t>
            </a:r>
          </a:p>
        </p:txBody>
      </p:sp>
      <p:sp>
        <p:nvSpPr>
          <p:cNvPr id="14" name="Oval 13"/>
          <p:cNvSpPr/>
          <p:nvPr/>
        </p:nvSpPr>
        <p:spPr>
          <a:xfrm>
            <a:off x="1005840" y="3621024"/>
            <a:ext cx="384048" cy="384048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621024"/>
            <a:ext cx="38404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800" b="1">
                <a:solidFill>
                  <a:srgbClr val="3D2B1F"/>
                </a:solidFill>
                <a:latin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3529584"/>
            <a:ext cx="9658807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200" b="0">
                <a:solidFill>
                  <a:srgbClr val="4A3B2E"/>
                </a:solidFill>
                <a:latin typeface="微软雅黑"/>
              </a:rPr>
              <a:t>思考：青蛙和小鸟谁说得对？为什么？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1379" y="566928"/>
            <a:ext cx="1117396" cy="310896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71379" y="566928"/>
            <a:ext cx="111739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3D2B1F"/>
                </a:solidFill>
                <a:latin typeface="微软雅黑"/>
              </a:rPr>
              <a:t>第1课时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44255" y="566928"/>
            <a:ext cx="1117396" cy="310896"/>
          </a:xfrm>
          <a:prstGeom prst="roundRect">
            <a:avLst>
              <a:gd name="adj" fmla="val 50000"/>
            </a:avLst>
          </a:prstGeom>
          <a:noFill/>
          <a:ln w="1778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44255" y="566928"/>
            <a:ext cx="111739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ED7D31"/>
                </a:solidFill>
                <a:latin typeface="微软雅黑"/>
              </a:rPr>
              <a:t>作业布置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547104"/>
            <a:ext cx="54864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B7A995"/>
                </a:solidFill>
                <a:latin typeface="微软雅黑"/>
              </a:rPr>
              <a:t>坐井观天 · 部编版二年级上册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6547104"/>
            <a:ext cx="14630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B7A995"/>
                </a:solidFill>
                <a:latin typeface="微软雅黑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