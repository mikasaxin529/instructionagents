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复习导入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复习导入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6035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听写词语：井沿、回答、口渴、喝水、说话、弄错、无边无际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44951"/>
            <a:ext cx="10820095" cy="13716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3282695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64407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9543"/>
            <a:ext cx="967709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上节课我们知道了什么？青蛙和小鸟在争论什么？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59899" y="4014215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59899" y="4014215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全班交流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50791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提示：回顾课文主要内容。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复习导入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精读品析 · 青蛙的话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精读品析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12848"/>
            <a:ext cx="9997135" cy="9144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9050">
            <a:solidFill>
              <a:srgbClr val="ED7D31"/>
            </a:solidFill>
            <a:prstDash val="dashDot"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944849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ED7D31"/>
                </a:solidFill>
                <a:latin typeface="楷体"/>
              </a:rPr>
              <a:t>「</a:t>
            </a:r>
            <a:r>
              <a:rPr sz="2600" b="0">
                <a:solidFill>
                  <a:srgbClr val="3D2B1F"/>
                </a:solidFill>
                <a:latin typeface="楷体"/>
              </a:rPr>
              <a:t>朋友，别说大话了！天不过井口那么大，还用飞那么远吗？</a:t>
            </a:r>
            <a:r>
              <a:rPr sz="2600" b="1">
                <a:solidFill>
                  <a:srgbClr val="ED7D31"/>
                </a:solidFill>
                <a:latin typeface="楷体"/>
              </a:rPr>
              <a:t>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448495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0">
                <a:solidFill>
                  <a:srgbClr val="9C8B78"/>
                </a:solidFill>
                <a:latin typeface="微软雅黑"/>
              </a:rPr>
              <a:t>—— 青蛙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55848"/>
            <a:ext cx="10820095" cy="13716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3593592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7530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20440"/>
            <a:ext cx="967709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从青蛙的话里，你体会到它怎样的语气？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9899" y="4325112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59899" y="4325112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小组讨论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61688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提示：注意"别说大话了""不过""还用"这些词。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精读品析 · 小鸟的话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精读品析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12848"/>
            <a:ext cx="9997135" cy="9144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9050">
            <a:solidFill>
              <a:srgbClr val="ED7D31"/>
            </a:solidFill>
            <a:prstDash val="dashDot"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944849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ED7D31"/>
                </a:solidFill>
                <a:latin typeface="楷体"/>
              </a:rPr>
              <a:t>「</a:t>
            </a:r>
            <a:r>
              <a:rPr sz="2600" b="0">
                <a:solidFill>
                  <a:srgbClr val="3D2B1F"/>
                </a:solidFill>
                <a:latin typeface="楷体"/>
              </a:rPr>
              <a:t>你弄错了。天无边无际，大得很哪！</a:t>
            </a:r>
            <a:r>
              <a:rPr sz="2600" b="1">
                <a:solidFill>
                  <a:srgbClr val="ED7D31"/>
                </a:solidFill>
                <a:latin typeface="楷体"/>
              </a:rPr>
              <a:t>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448495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0">
                <a:solidFill>
                  <a:srgbClr val="9C8B78"/>
                </a:solidFill>
                <a:latin typeface="微软雅黑"/>
              </a:rPr>
              <a:t>—— 小鸟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55848"/>
            <a:ext cx="10820095" cy="6035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小鸟飞了一百多里，</a:t>
            </a:r>
            <a:r>
              <a:rPr sz="2400" b="1">
                <a:solidFill>
                  <a:srgbClr val="3E7BB6"/>
                </a:solidFill>
                <a:latin typeface="微软雅黑"/>
              </a:rPr>
              <a:t>说明它见</a:t>
            </a:r>
            <a:r>
              <a:rPr sz="2400" b="0">
                <a:solidFill>
                  <a:srgbClr val="4A3B2E"/>
                </a:solidFill>
                <a:latin typeface="微软雅黑"/>
              </a:rPr>
              <a:t>过很大的天。"无边无际"说明天非常非常大。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精读品析 · 争论升级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精读品析 · 争论升级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12848"/>
            <a:ext cx="9997135" cy="13716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9050">
            <a:solidFill>
              <a:srgbClr val="ED7D31"/>
            </a:solidFill>
            <a:prstDash val="dashDot"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944849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ED7D31"/>
                </a:solidFill>
                <a:latin typeface="楷体"/>
              </a:rPr>
              <a:t>「</a:t>
            </a:r>
            <a:r>
              <a:rPr sz="2600" b="0">
                <a:solidFill>
                  <a:srgbClr val="3D2B1F"/>
                </a:solidFill>
                <a:latin typeface="楷体"/>
              </a:rPr>
              <a:t>青蛙笑了，说：朋友，我天天坐在井里，一抬头就看见天。我不会弄错的。</a:t>
            </a:r>
            <a:r>
              <a:rPr sz="2600" b="1">
                <a:solidFill>
                  <a:srgbClr val="ED7D31"/>
                </a:solidFill>
                <a:latin typeface="楷体"/>
              </a:rPr>
              <a:t>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38728"/>
            <a:ext cx="9448495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0">
                <a:solidFill>
                  <a:srgbClr val="9C8B78"/>
                </a:solidFill>
                <a:latin typeface="微软雅黑"/>
              </a:rPr>
              <a:t>—— 青蛙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13048"/>
            <a:ext cx="10820095" cy="13716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4050792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03250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77640"/>
            <a:ext cx="967709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青蛙为什么"笑"？它的笑里有什么意味？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9899" y="4782312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59899" y="4782312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小组讨论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18888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提示：青蛙觉得自己天天坐井观天，怎么会错。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精读品析 · 小鸟的劝告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精读品析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12848"/>
            <a:ext cx="9997135" cy="13716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19050">
            <a:solidFill>
              <a:srgbClr val="ED7D31"/>
            </a:solidFill>
            <a:prstDash val="dashDot"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944849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ED7D31"/>
                </a:solidFill>
                <a:latin typeface="楷体"/>
              </a:rPr>
              <a:t>「</a:t>
            </a:r>
            <a:r>
              <a:rPr sz="2600" b="0">
                <a:solidFill>
                  <a:srgbClr val="3D2B1F"/>
                </a:solidFill>
                <a:latin typeface="楷体"/>
              </a:rPr>
              <a:t>小鸟也笑了，说：朋友，你是弄错了。不信，你跳出井口来看一看吧。</a:t>
            </a:r>
            <a:r>
              <a:rPr sz="2600" b="1">
                <a:solidFill>
                  <a:srgbClr val="ED7D31"/>
                </a:solidFill>
                <a:latin typeface="楷体"/>
              </a:rPr>
              <a:t>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38728"/>
            <a:ext cx="9448495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0">
                <a:solidFill>
                  <a:srgbClr val="9C8B78"/>
                </a:solidFill>
                <a:latin typeface="微软雅黑"/>
              </a:rPr>
              <a:t>—— 小鸟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13048"/>
            <a:ext cx="10820095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7BB6"/>
                </a:solidFill>
                <a:latin typeface="微软雅黑"/>
              </a:rPr>
              <a:t>小鸟</a:t>
            </a:r>
            <a:r>
              <a:rPr sz="2400" b="0">
                <a:solidFill>
                  <a:srgbClr val="4A3B2E"/>
                </a:solidFill>
                <a:latin typeface="微软雅黑"/>
              </a:rPr>
              <a:t>笑着劝青蛙跳出井口，亲眼看看外面的天。如果青蛙跳出井来，它会看到怎样的天呢？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合作探究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合作探究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13716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450592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3230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77440"/>
            <a:ext cx="967709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青蛙和小鸟谁说得对？为什么它们看到的"天"不一样？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59899" y="3182112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9899" y="3182112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小组讨论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18688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提示：青蛙在井底，视野狭窄；小鸟在天空，视野开阔。看问题的角度不同，结论就不同。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朗读指导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朗读指导 · 分角色朗读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6035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青蛙的语气：自信、不以为然；小鸟的语气：真诚、耐心劝说。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72" y="3044951"/>
            <a:ext cx="6991350" cy="7048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写法总结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写法总结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20665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628900"/>
            <a:ext cx="100584" cy="1005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395728"/>
            <a:ext cx="9878263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通过对话展开故事，推进情节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195828"/>
            <a:ext cx="100584" cy="1005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62656"/>
            <a:ext cx="9878263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青蛙和小鸟的语言符合各自身份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62756"/>
            <a:ext cx="100584" cy="1005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529584"/>
            <a:ext cx="9878263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运用对比，凸显"看问题要全面"的道理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拓展延伸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拓展延伸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6035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想一想</a:t>
            </a:r>
            <a:r>
              <a:rPr sz="2400" b="1">
                <a:solidFill>
                  <a:srgbClr val="3E7BB6"/>
                </a:solidFill>
                <a:latin typeface="微软雅黑"/>
              </a:rPr>
              <a:t>，青蛙如果跳</a:t>
            </a:r>
            <a:r>
              <a:rPr sz="2400" b="0">
                <a:solidFill>
                  <a:srgbClr val="4A3B2E"/>
                </a:solidFill>
                <a:latin typeface="微软雅黑"/>
              </a:rPr>
              <a:t>出井口，它会看到什么？说什么？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44951"/>
            <a:ext cx="10820095" cy="18288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3282695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64407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9543"/>
            <a:ext cx="9677095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生活中你有没有"坐井观天"的时候？说说怎样做才能看得更全面。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59899" y="4471415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59899" y="4471415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同桌互说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07991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提示：联系生活，多看多听多想。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拓展延伸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板书设计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板书设计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1367" y="2212848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1367" y="2212848"/>
            <a:ext cx="31089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>
                <a:solidFill>
                  <a:srgbClr val="3D2B1F"/>
                </a:solidFill>
                <a:latin typeface="微软雅黑"/>
              </a:rPr>
              <a:t>坐井观天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580589" y="2761488"/>
            <a:ext cx="3515258" cy="228600"/>
          </a:xfrm>
          <a:prstGeom prst="line">
            <a:avLst/>
          </a:prstGeom>
          <a:ln w="17780">
            <a:solidFill>
              <a:srgbClr val="B7A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71829" y="2990088"/>
            <a:ext cx="3017520" cy="475488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20320">
            <a:solidFill>
              <a:srgbClr val="3E7BB6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1829" y="2990088"/>
            <a:ext cx="30175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3E7BB6"/>
                </a:solidFill>
                <a:latin typeface="微软雅黑"/>
              </a:rPr>
              <a:t>青蛙（井底）</a:t>
            </a:r>
          </a:p>
        </p:txBody>
      </p:sp>
      <p:sp>
        <p:nvSpPr>
          <p:cNvPr id="12" name="Oval 11"/>
          <p:cNvSpPr/>
          <p:nvPr/>
        </p:nvSpPr>
        <p:spPr>
          <a:xfrm>
            <a:off x="1071829" y="3703320"/>
            <a:ext cx="91440" cy="91440"/>
          </a:xfrm>
          <a:prstGeom prst="ellipse">
            <a:avLst/>
          </a:prstGeom>
          <a:solidFill>
            <a:srgbClr val="3E7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6421" y="3520440"/>
            <a:ext cx="26883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0">
                <a:solidFill>
                  <a:srgbClr val="4A3B2E"/>
                </a:solidFill>
                <a:latin typeface="微软雅黑"/>
              </a:rPr>
              <a:t>天井口大</a:t>
            </a:r>
          </a:p>
        </p:txBody>
      </p:sp>
      <p:sp>
        <p:nvSpPr>
          <p:cNvPr id="14" name="Oval 13"/>
          <p:cNvSpPr/>
          <p:nvPr/>
        </p:nvSpPr>
        <p:spPr>
          <a:xfrm>
            <a:off x="1071829" y="4206240"/>
            <a:ext cx="91440" cy="91440"/>
          </a:xfrm>
          <a:prstGeom prst="ellipse">
            <a:avLst/>
          </a:prstGeom>
          <a:solidFill>
            <a:srgbClr val="3E7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6421" y="4023360"/>
            <a:ext cx="26883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0">
                <a:solidFill>
                  <a:srgbClr val="4A3B2E"/>
                </a:solidFill>
                <a:latin typeface="微软雅黑"/>
              </a:rPr>
              <a:t>目光短浅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2761488"/>
            <a:ext cx="0" cy="228600"/>
          </a:xfrm>
          <a:prstGeom prst="line">
            <a:avLst/>
          </a:prstGeom>
          <a:ln w="17780">
            <a:solidFill>
              <a:srgbClr val="B7A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87087" y="2990088"/>
            <a:ext cx="3017520" cy="475488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2032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7087" y="2990088"/>
            <a:ext cx="30175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3E8E5A"/>
                </a:solidFill>
                <a:latin typeface="微软雅黑"/>
              </a:rPr>
              <a:t>小鸟（天上）</a:t>
            </a:r>
          </a:p>
        </p:txBody>
      </p:sp>
      <p:sp>
        <p:nvSpPr>
          <p:cNvPr id="19" name="Oval 18"/>
          <p:cNvSpPr/>
          <p:nvPr/>
        </p:nvSpPr>
        <p:spPr>
          <a:xfrm>
            <a:off x="4587087" y="3703320"/>
            <a:ext cx="91440" cy="9144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1679" y="3520440"/>
            <a:ext cx="26883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0">
                <a:solidFill>
                  <a:srgbClr val="4A3B2E"/>
                </a:solidFill>
                <a:latin typeface="微软雅黑"/>
              </a:rPr>
              <a:t>天无边无际</a:t>
            </a:r>
          </a:p>
        </p:txBody>
      </p:sp>
      <p:sp>
        <p:nvSpPr>
          <p:cNvPr id="21" name="Oval 20"/>
          <p:cNvSpPr/>
          <p:nvPr/>
        </p:nvSpPr>
        <p:spPr>
          <a:xfrm>
            <a:off x="4587087" y="4206240"/>
            <a:ext cx="91440" cy="9144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1679" y="4023360"/>
            <a:ext cx="26883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100" b="0">
                <a:solidFill>
                  <a:srgbClr val="4A3B2E"/>
                </a:solidFill>
                <a:latin typeface="微软雅黑"/>
              </a:rPr>
              <a:t>目光远大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847" y="2761488"/>
            <a:ext cx="3515259" cy="228600"/>
          </a:xfrm>
          <a:prstGeom prst="line">
            <a:avLst/>
          </a:prstGeom>
          <a:ln w="17780">
            <a:solidFill>
              <a:srgbClr val="B7A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02346" y="2990088"/>
            <a:ext cx="3017520" cy="475488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20320">
            <a:solidFill>
              <a:srgbClr val="E2574C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2346" y="2990088"/>
            <a:ext cx="30175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1">
                <a:solidFill>
                  <a:srgbClr val="E2574C"/>
                </a:solidFill>
                <a:latin typeface="微软雅黑"/>
              </a:rPr>
              <a:t>道理：看问题要全面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板书设计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课堂练习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课堂练习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20665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8716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95728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选词填空：青蛙坐在（井里/天上）。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54096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5409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962656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判断：青蛙说得对。（  ）小鸟说得对。（ ）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2102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529584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用"无边无际"说一句话。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课堂练习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分层作业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分层作业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20665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8716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95728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【基础】有感情朗读课文，分角色读给家人听。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54096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5409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962656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【提升】续写：青蛙跳出井口后……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2102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529584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【拓展】收集一个成语故事，讲给同学听。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第2课时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作业布置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13248" y="35661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94392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5000" b="1">
                <a:solidFill>
                  <a:srgbClr val="ED7D31"/>
                </a:solidFill>
                <a:latin typeface="微软雅黑"/>
              </a:rPr>
              <a:t>结束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